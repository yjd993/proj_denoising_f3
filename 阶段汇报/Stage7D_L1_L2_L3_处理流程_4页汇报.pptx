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6324E"/>
                </a:solidFill>
                <a:latin typeface="Microsoft YaHei"/>
              </a:rPr>
              <a:t>机载激光测深数据处理流程：从 L1 原始观测到最终点云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49808"/>
            <a:ext cx="11384280" cy="27432"/>
          </a:xfrm>
          <a:prstGeom prst="rect">
            <a:avLst/>
          </a:prstGeom>
          <a:solidFill>
            <a:srgbClr val="27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069"/>
                </a:solidFill>
                <a:latin typeface="Microsoft YaHei"/>
              </a:rPr>
              <a:t>以 00111 文件为例说明中间过程；00050-00150 的 95 个 Stage 7A 文件作为可展示候选成果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324E"/>
                </a:solidFill>
                <a:latin typeface="Microsoft YaHei"/>
              </a:rPr>
              <a:t>核心问题：原始激光记录怎样一步步变成地图坐标中的三维点云？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56231"/>
            <a:ext cx="2240280" cy="868680"/>
          </a:xfrm>
          <a:prstGeom prst="roundRect">
            <a:avLst/>
          </a:prstGeom>
          <a:solidFill>
            <a:srgbClr val="27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75103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L1 原始观测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76856"/>
            <a:ext cx="2020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时间 + 原始距离计数 + 扫描镜位置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07792" y="2103120"/>
            <a:ext cx="530352" cy="347472"/>
          </a:xfrm>
          <a:prstGeom prst="rightArrow">
            <a:avLst/>
          </a:prstGeom>
          <a:solidFill>
            <a:srgbClr val="BE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40" y="1856231"/>
            <a:ext cx="2240280" cy="868680"/>
          </a:xfrm>
          <a:prstGeom prst="roundRect">
            <a:avLst/>
          </a:prstGeom>
          <a:solidFill>
            <a:srgbClr val="228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975103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L2 机体系点云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276856"/>
            <a:ext cx="2020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相对飞机的前后、左右、上下位置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33872" y="2103120"/>
            <a:ext cx="530352" cy="347472"/>
          </a:xfrm>
          <a:prstGeom prst="rightArrow">
            <a:avLst/>
          </a:prstGeom>
          <a:solidFill>
            <a:srgbClr val="BE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56231"/>
            <a:ext cx="2240280" cy="868680"/>
          </a:xfrm>
          <a:prstGeom prst="roundRect">
            <a:avLst/>
          </a:prstGeom>
          <a:solidFill>
            <a:srgbClr val="D37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975103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L3 POS 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276856"/>
            <a:ext cx="2020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匹配飞机位置和姿态，得到东/北/高偏移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9952" y="2103120"/>
            <a:ext cx="530352" cy="347472"/>
          </a:xfrm>
          <a:prstGeom prst="rightArrow">
            <a:avLst/>
          </a:prstGeom>
          <a:solidFill>
            <a:srgbClr val="BE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600" y="1856231"/>
            <a:ext cx="2240280" cy="868680"/>
          </a:xfrm>
          <a:prstGeom prst="roundRect">
            <a:avLst/>
          </a:prstGeom>
          <a:solidFill>
            <a:srgbClr val="B44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1975103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最终点云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276856"/>
            <a:ext cx="2020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UTM 坐标 + 高程 + 经纬度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394960" cy="224028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355848"/>
            <a:ext cx="5065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给不熟悉数据的老师先讲清楚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675887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L1 不是点云，只是逐点观测记录。</a:t>
            </a:r>
          </a:p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L2 是相对飞机自身坐标系的局部点云。</a:t>
            </a:r>
          </a:p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L3 把每个激光点与飞机 POS 轨迹按时间对应起来。</a:t>
            </a:r>
          </a:p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最终结果是把“飞机位置”和“激光点相对飞机的偏移”合成。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46120"/>
            <a:ext cx="5166360" cy="224028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355848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本次阶段性结论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675887"/>
            <a:ext cx="4663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00050-00150 中 95 个 Stage 7A 文件判为可展示候选成果。</a:t>
            </a:r>
          </a:p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6 个坏时间文件单独排除，不混入几何判断。</a:t>
            </a:r>
          </a:p>
          <a:p>
            <a:pPr>
              <a:spcAft>
                <a:spcPts val="500"/>
              </a:spcAft>
              <a:defRPr sz="1320">
                <a:solidFill>
                  <a:srgbClr val="232323"/>
                </a:solidFill>
                <a:latin typeface="Microsoft YaHei"/>
              </a:defRPr>
            </a:pPr>
            <a:r>
              <a:t>00144-00145 存在 0.12666 秒时间间隔，但目视未见明显几何跳变。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6446520"/>
            <a:ext cx="11109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86069"/>
                </a:solidFill>
                <a:latin typeface="Microsoft YaHei"/>
              </a:rPr>
              <a:t>汇报定位：解释处理链条和阶段性成果，不宣称已完成全部文件最终生产。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6324E"/>
                </a:solidFill>
                <a:latin typeface="Microsoft YaHei"/>
              </a:rPr>
              <a:t>1. L1 原始数据：只有观测记录，还不是空间点云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49808"/>
            <a:ext cx="11384280" cy="27432"/>
          </a:xfrm>
          <a:prstGeom prst="rect">
            <a:avLst/>
          </a:prstGeom>
          <a:solidFill>
            <a:srgbClr val="27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069"/>
                </a:solidFill>
                <a:latin typeface="Microsoft YaHei"/>
              </a:rPr>
              <a:t>示例文件：L1_cap_00111_20260510190957.h5</a:t>
            </a:r>
          </a:p>
        </p:txBody>
      </p:sp>
      <p:pic>
        <p:nvPicPr>
          <p:cNvPr id="5" name="Picture 4" descr="stage7d_00111_L1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989320" cy="5074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143000"/>
            <a:ext cx="4846320" cy="507492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1" y="1252728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L1 中主要记录什么？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1600200"/>
            <a:ext cx="4343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232323"/>
                </a:solidFill>
                <a:latin typeface="Microsoft YaHei"/>
              </a:defRPr>
            </a:pPr>
            <a:r>
              <a:t>每个激光点的时间：GNSS_SEC_CH1</a:t>
            </a:r>
          </a:p>
          <a:p>
            <a:pPr>
              <a:spcAft>
                <a:spcPts val="500"/>
              </a:spcAft>
              <a:defRPr sz="1280">
                <a:solidFill>
                  <a:srgbClr val="232323"/>
                </a:solidFill>
                <a:latin typeface="Microsoft YaHei"/>
              </a:defRPr>
            </a:pPr>
            <a:r>
              <a:t>原始距离计数：Photon_CH1_DIST</a:t>
            </a:r>
          </a:p>
          <a:p>
            <a:pPr>
              <a:spcAft>
                <a:spcPts val="500"/>
              </a:spcAft>
              <a:defRPr sz="1280">
                <a:solidFill>
                  <a:srgbClr val="232323"/>
                </a:solidFill>
                <a:latin typeface="Microsoft YaHei"/>
              </a:defRPr>
            </a:pPr>
            <a:r>
              <a:t>扫描镜位置/相位：Photon_CH1_CODER</a:t>
            </a:r>
          </a:p>
          <a:p>
            <a:pPr>
              <a:spcAft>
                <a:spcPts val="500"/>
              </a:spcAft>
              <a:defRPr sz="1280">
                <a:solidFill>
                  <a:srgbClr val="232323"/>
                </a:solidFill>
                <a:latin typeface="Microsoft YaHei"/>
              </a:defRPr>
            </a:pPr>
            <a:r>
              <a:t>脉冲索引：PULSE_INDEX_CH1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2" y="324612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324E"/>
                </a:solidFill>
                <a:latin typeface="Microsoft YaHei"/>
              </a:rPr>
              <a:t>一句话解释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3593592"/>
            <a:ext cx="4251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L1 告诉我们“什么时候测、测了多远、扫描镜在哪个角度”，但还不知道点在真实空间中的位置。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507492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324E"/>
                </a:solidFill>
                <a:latin typeface="Microsoft YaHei"/>
              </a:rPr>
              <a:t>图中看什么？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5413248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069"/>
                </a:solidFill>
                <a:latin typeface="Microsoft YaHei"/>
              </a:rPr>
              <a:t>检查原始距离、扫描相位和脉冲索引随时间是否正常连续。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46520"/>
            <a:ext cx="11109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86069"/>
                </a:solidFill>
                <a:latin typeface="Microsoft YaHei"/>
              </a:rPr>
              <a:t>这一页只说明原始观测量，不涉及论文几何模型。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6324E"/>
                </a:solidFill>
                <a:latin typeface="Microsoft YaHei"/>
              </a:rPr>
              <a:t>2. L1 到 L2：把距离和扫描角转换成飞机坐标系下的点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49808"/>
            <a:ext cx="11384280" cy="27432"/>
          </a:xfrm>
          <a:prstGeom prst="rect">
            <a:avLst/>
          </a:prstGeom>
          <a:solidFill>
            <a:srgbClr val="27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069"/>
                </a:solidFill>
                <a:latin typeface="Microsoft YaHei"/>
              </a:rPr>
              <a:t>这一步得到相对飞机的局部三维点云，还没有放到地图坐标里</a:t>
            </a:r>
          </a:p>
        </p:txBody>
      </p:sp>
      <p:pic>
        <p:nvPicPr>
          <p:cNvPr id="5" name="Picture 4" descr="stage7d_00111_L2_F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5806440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078992"/>
            <a:ext cx="5074920" cy="224028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1188719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处理逻辑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1499616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232323"/>
                </a:solidFill>
                <a:latin typeface="Microsoft YaHei"/>
              </a:defRPr>
            </a:pPr>
            <a:r>
              <a:t>先把原始距离计数换算成真实距离：range_m</a:t>
            </a:r>
          </a:p>
          <a:p>
            <a:pPr>
              <a:spcAft>
                <a:spcPts val="500"/>
              </a:spcAft>
              <a:defRPr sz="1230">
                <a:solidFill>
                  <a:srgbClr val="232323"/>
                </a:solidFill>
                <a:latin typeface="Microsoft YaHei"/>
              </a:defRPr>
            </a:pPr>
            <a:r>
              <a:t>再把编码器位置换算成扫描角：scan_angle_deg</a:t>
            </a:r>
          </a:p>
          <a:p>
            <a:pPr>
              <a:spcAft>
                <a:spcPts val="500"/>
              </a:spcAft>
              <a:defRPr sz="1230">
                <a:solidFill>
                  <a:srgbClr val="232323"/>
                </a:solidFill>
                <a:latin typeface="Microsoft YaHei"/>
              </a:defRPr>
            </a:pPr>
            <a:r>
              <a:t>最后计算激光点相对飞机的前后、左右、上下位置：frd_x_m / frd_y_m / frd_z_m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566160"/>
            <a:ext cx="5074920" cy="214884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3675887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论文使用点：曹彬才 第 4.4.2 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4005072"/>
            <a:ext cx="4526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323"/>
                </a:solidFill>
                <a:latin typeface="Microsoft YaHei"/>
              </a:rPr>
              <a:t>这里主要参考 LADM-II 扫描镜几何：用反射镜法线、入射光方向和反射光方向计算激光束出射方向。论文中涉及约 7.5° 反射镜倾角和 45° 坐标变换思想，对应公式 4-7 到 4-14。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528523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1">
                <a:solidFill>
                  <a:srgbClr val="B4443F"/>
                </a:solidFill>
                <a:latin typeface="Microsoft YaHei"/>
              </a:rPr>
              <a:t>注意：没有声称完整照搬第 4.4 节所有直接地理定位公式。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446520"/>
            <a:ext cx="11109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86069"/>
                </a:solidFill>
                <a:latin typeface="Microsoft YaHei"/>
              </a:rPr>
              <a:t>对老师可以说：这一页是把“测距 + 扫描镜角度”变成“相对飞机的三维位置”。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6324E"/>
                </a:solidFill>
                <a:latin typeface="Microsoft YaHei"/>
              </a:rPr>
              <a:t>3. L2 到 L3，再到最终坐标：给每个点找到飞机位置和姿态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49808"/>
            <a:ext cx="11384280" cy="27432"/>
          </a:xfrm>
          <a:prstGeom prst="rect">
            <a:avLst/>
          </a:prstGeom>
          <a:solidFill>
            <a:srgbClr val="27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069"/>
                </a:solidFill>
                <a:latin typeface="Microsoft YaHei"/>
              </a:rPr>
              <a:t>最终坐标 = 飞机当时的位置 + 激光点相对飞机的偏移</a:t>
            </a:r>
          </a:p>
        </p:txBody>
      </p:sp>
      <p:pic>
        <p:nvPicPr>
          <p:cNvPr id="5" name="Picture 4" descr="stage7d_00111_L3_POS_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5806440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078992"/>
            <a:ext cx="5074920" cy="1874519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1188719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L2 到 L3：POS 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1481328"/>
            <a:ext cx="45262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70">
                <a:solidFill>
                  <a:srgbClr val="232323"/>
                </a:solidFill>
                <a:latin typeface="Microsoft YaHei"/>
              </a:defRPr>
            </a:pPr>
            <a:r>
              <a:t>按时间找到飞机当时的位置：pos_easting / pos_northing / pos_height</a:t>
            </a:r>
          </a:p>
          <a:p>
            <a:pPr>
              <a:spcAft>
                <a:spcPts val="500"/>
              </a:spcAft>
              <a:defRPr sz="1170">
                <a:solidFill>
                  <a:srgbClr val="232323"/>
                </a:solidFill>
                <a:latin typeface="Microsoft YaHei"/>
              </a:defRPr>
            </a:pPr>
            <a:r>
              <a:t>插值得到飞机姿态：pos_roll / pos_pitch / pos_heading</a:t>
            </a:r>
          </a:p>
          <a:p>
            <a:pPr>
              <a:spcAft>
                <a:spcPts val="500"/>
              </a:spcAft>
              <a:defRPr sz="1170">
                <a:solidFill>
                  <a:srgbClr val="232323"/>
                </a:solidFill>
                <a:latin typeface="Microsoft YaHei"/>
              </a:defRPr>
            </a:pPr>
            <a:r>
              <a:t>旋转后得到激光点相对飞机的东、北、下偏移：east_offset_m / north_offset_m / down_offset_m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182112"/>
            <a:ext cx="5074920" cy="150876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3291840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最终坐标计算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3584448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 b="0">
                <a:solidFill>
                  <a:srgbClr val="232323"/>
                </a:solidFill>
                <a:latin typeface="Microsoft YaHei"/>
              </a:rPr>
              <a:t>最终东坐标 = 飞机东坐标 + 激光点东向偏移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388620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 b="0">
                <a:solidFill>
                  <a:srgbClr val="232323"/>
                </a:solidFill>
                <a:latin typeface="Microsoft YaHei"/>
              </a:rPr>
              <a:t>最终北坐标 = 飞机北坐标 + 激光点北向偏移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4187952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 b="0">
                <a:solidFill>
                  <a:srgbClr val="232323"/>
                </a:solidFill>
                <a:latin typeface="Microsoft YaHei"/>
              </a:rPr>
              <a:t>最终高程 = 飞机高程 - 激光点向下偏移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956048"/>
            <a:ext cx="5074920" cy="1170432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5065776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最终汇报结论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5321808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324E"/>
                </a:solidFill>
                <a:latin typeface="Microsoft YaHei"/>
              </a:rPr>
              <a:t>00111 可完整展示 L1、L2、L3 处理链；00050-00150 中 95 个 Stage 7A 文件已整理为可展示候选成果。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446520"/>
            <a:ext cx="11109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86069"/>
                </a:solidFill>
                <a:latin typeface="Microsoft YaHei"/>
              </a:rPr>
              <a:t>最终点云图和 CloudCompare 检查已经在 Stage 7A/7D 材料包中给出；本 PPT 重点讲中间过程。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